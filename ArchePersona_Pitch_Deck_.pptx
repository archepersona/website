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layer definition and the ask. One-pass investor comprehension.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honesty keeps the deck from overclaiming.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founder-market fit earlier. This is the explanation of why this founder can build the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aimed at first payer, not general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separates ARCHE from memory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Brunel is the first wedge and proof, not the whole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15 users look like depth signal, not a vanity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Tighter first paying slice and replacement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Adds simple distribution logic: where the next paid testers actually come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top-down TAM with bottom-up paid AI power-user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answer to native memory objection.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Reword as deliberate, not defensive.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burn logic 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bad fit slide and close on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3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ARCHEPERSONA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67512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Social Intelligence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1773936"/>
            <a:ext cx="7543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ARCHE is behavioral control around memory, state, routing, boundaries, and recovery.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76656" y="3063240"/>
            <a:ext cx="6812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Raising $500K pre-seed to turn Brunel from live behavioral proof into measurable paid-product traction.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685800" y="406908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D7BC86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415137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965960" y="406908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8FBDB7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39112" y="4151376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REGISTERED ACCOUNTS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77640" y="406908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F0DBB8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0792" y="4151376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DB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10K+ INTERACTIONS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3232" y="49560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Darren Hall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&amp; Chief Behavioral Systems Architect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3232" y="56235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Instrument: SAFE or equivalent early-stage funding structure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1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demo/prototype. Not a finished product cosplay.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Brunel is the first public demo of ARCHE: an AI presence designed to carry forward, regulate, and stay coherent over time.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Already proven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46120" y="267919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demo, registered accounts, working stack, qualitative reviewer signal, adversarial behavior tests</a:t>
            </a:r>
            <a:endParaRPr lang="en-US" sz="1260" dirty="0"/>
          </a:p>
        </p:txBody>
      </p:sp>
      <p:sp>
        <p:nvSpPr>
          <p:cNvPr id="10" name="Shape 7"/>
          <p:cNvSpPr/>
          <p:nvPr/>
        </p:nvSpPr>
        <p:spPr>
          <a:xfrm>
            <a:off x="914400" y="3255264"/>
            <a:ext cx="9509760" cy="0"/>
          </a:xfrm>
          <a:prstGeom prst="line">
            <a:avLst/>
          </a:prstGeom>
          <a:noFill/>
          <a:ln w="12700">
            <a:solidFill>
              <a:srgbClr val="D7BC86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630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8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claimed yet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46120" y="361188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conversion, retention curves, enterprise deployment, scaled onboarding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914400" y="4187952"/>
            <a:ext cx="9509760" cy="0"/>
          </a:xfrm>
          <a:prstGeom prst="line">
            <a:avLst/>
          </a:prstGeom>
          <a:noFill/>
          <a:ln w="12700">
            <a:solidFill>
              <a:srgbClr val="D08366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5628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round buys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246120" y="45445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stabilization, analytics, onboarding cleanup, controlled paid test, pilot readiness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914400" y="5120640"/>
            <a:ext cx="9509760" cy="0"/>
          </a:xfrm>
          <a:prstGeom prst="line">
            <a:avLst/>
          </a:prstGeom>
          <a:noFill/>
          <a:ln w="12700">
            <a:solidFill>
              <a:srgbClr val="8FBDB7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0432" y="55961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machine works. The round proves whether the market sticks and pays.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5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Darren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founder edge is systems under load.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13898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AI founders start with models and prompts. Darren starts with systems under load: signal flow, drift, pressure, routing, feedback, failure modes, and recovery.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41248" y="2523744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 is why ARCHE is infrastructure, not a chatbot wrapper.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914400" y="3429000"/>
            <a:ext cx="4526280" cy="585216"/>
          </a:xfrm>
          <a:prstGeom prst="roundRect">
            <a:avLst>
              <a:gd name="adj" fmla="val 12500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D7BC86">
                <a:alpha val="9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" y="35478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sound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2788920" y="3538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compression, feedback, signal chains, real-time stabilization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6263640" y="3429000"/>
            <a:ext cx="4526280" cy="585216"/>
          </a:xfrm>
          <a:prstGeom prst="roundRect">
            <a:avLst>
              <a:gd name="adj" fmla="val 12500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8FBDB7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35478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Automotive diagnostics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8138160" y="3538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 isolation, failure modes, pressure, recovery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914400" y="4343400"/>
            <a:ext cx="4526280" cy="585216"/>
          </a:xfrm>
          <a:prstGeom prst="roundRect">
            <a:avLst>
              <a:gd name="adj" fmla="val 12500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D7BC86">
                <a:alpha val="9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" y="4462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Networks / systems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2788920" y="44531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routing, load, state, resilience, failure containment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263640" y="4343400"/>
            <a:ext cx="4526280" cy="585216"/>
          </a:xfrm>
          <a:prstGeom prst="roundRect">
            <a:avLst>
              <a:gd name="adj" fmla="val 12500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8FBDB7">
                <a:alpha val="9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64808" y="4462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architecture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8138160" y="44531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human-scale troubleshooting and practical design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3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power users already feel the reset problem every day.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3232" y="1426464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becoming too powerful to behave like a temporary text box.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960120" y="24505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0DB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new thread loses working context.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305409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Preferences and project history have to be rebuilt.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0DB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 behavior drifts across long interactions.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60120" y="42611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features store facts, but do not govern behavior.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06640" y="1572768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891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7891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REBUILD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7891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DRIFT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7891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051560" y="54864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7B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payer is not new to AI. They are already paying, already using, and already annoyed.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1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ARCHE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 middleware between raw models and human-facing products.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2960" y="1965960"/>
            <a:ext cx="2962656" cy="1609344"/>
          </a:xfrm>
          <a:prstGeom prst="roundRect">
            <a:avLst>
              <a:gd name="adj" fmla="val 4545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2C4A43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3856" y="26700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intelligence substrate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 rot="5400000">
            <a:off x="4005072" y="2514600"/>
            <a:ext cx="347472" cy="420624"/>
          </a:xfrm>
          <a:prstGeom prst="triangle">
            <a:avLst/>
          </a:prstGeom>
          <a:solidFill>
            <a:srgbClr val="D7BC86"/>
          </a:solidFill>
          <a:ln w="12700">
            <a:solidFill>
              <a:srgbClr val="D7BC86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1965960"/>
            <a:ext cx="2962656" cy="1609344"/>
          </a:xfrm>
          <a:prstGeom prst="roundRect">
            <a:avLst>
              <a:gd name="adj" fmla="val 4545"/>
            </a:avLst>
          </a:prstGeom>
          <a:solidFill>
            <a:srgbClr val="132B25">
              <a:alpha val="97000"/>
            </a:srgbClr>
          </a:solidFill>
          <a:ln w="12700">
            <a:solidFill>
              <a:srgbClr val="D7BC86">
                <a:alpha val="9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01184" y="26700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 control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+ state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+ boundaries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+ expression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 rot="5400000">
            <a:off x="7772400" y="2514600"/>
            <a:ext cx="347472" cy="420624"/>
          </a:xfrm>
          <a:prstGeom prst="triangle">
            <a:avLst/>
          </a:prstGeom>
          <a:solidFill>
            <a:srgbClr val="D7BC86"/>
          </a:solidFill>
          <a:ln w="12700">
            <a:solidFill>
              <a:srgbClr val="D7BC86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57616" y="1965960"/>
            <a:ext cx="2962656" cy="1609344"/>
          </a:xfrm>
          <a:prstGeom prst="roundRect">
            <a:avLst>
              <a:gd name="adj" fmla="val 4545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2C4A43">
                <a:alpha val="9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0496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FACES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68512" y="26700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Brunel first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personas later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licensing/API later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1261872" y="4718304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ARCHE does not replace models. It governs how memory affects behavior over time.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828800" y="5422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can add memory to a model. ARCHE controls what that memory does.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3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product proof: Brunel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that makes ARCHE legible.</a:t>
            </a:r>
            <a:endParaRPr lang="en-US" sz="1050" dirty="0"/>
          </a:p>
        </p:txBody>
      </p:sp>
      <p:pic>
        <p:nvPicPr>
          <p:cNvPr id="7" name="Image 1" descr="/mnt/data/10000013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01" y="1261872"/>
            <a:ext cx="2283053" cy="5074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9808" y="1261872"/>
            <a:ext cx="3063240" cy="50749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C4A4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34840" y="1481328"/>
            <a:ext cx="630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Brunel is the public proof slice: an AI presence that does not simply answer. It carries forward, regulates, and stays coherent.</a:t>
            </a:r>
            <a:endParaRPr lang="en-US" sz="2350" dirty="0"/>
          </a:p>
        </p:txBody>
      </p:sp>
      <p:sp>
        <p:nvSpPr>
          <p:cNvPr id="10" name="Shape 6"/>
          <p:cNvSpPr/>
          <p:nvPr/>
        </p:nvSpPr>
        <p:spPr>
          <a:xfrm>
            <a:off x="4498848" y="2889504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F0DBB8">
                <a:alpha val="8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0" y="2971800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DB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demo, not vaporware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498848" y="3392424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8FBDB7">
                <a:alpha val="8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0" y="3474720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ARCHE, not prompt theater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498848" y="3895344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D7BC86">
                <a:alpha val="8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0" y="3977640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wedge protects infrastructure IP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498848" y="4398264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78918C">
                <a:alpha val="8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0" y="4480560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comes after proof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526280" y="523036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7B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feel the difference fast. This round proves it holds.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1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proof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sample, high-depth signal.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4672" y="14173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91D19">
              <a:alpha val="97000"/>
            </a:srgbClr>
          </a:solidFill>
          <a:ln w="12700">
            <a:solidFill>
              <a:srgbClr val="D7BC86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7007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reviewer: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201168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“Most honest, structurally coherent, alive-feeling AI architecture I’ve seen from a solo founder pre-funding.”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60704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AI power user / technical reviewer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4652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446520" y="20848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accounts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914400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10K+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9144000" y="20848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interactions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6446520" y="3063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446520" y="35935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probes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9144000" y="3063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16.5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144000" y="35935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 / partials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914400" y="50749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point is not that this is mature traction. The point is depth: a tiny prototype produced enough interaction volume and reviewer signal to justify the next measured test.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594360" y="61264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demo data and adversarial test logs, May 2026. Registered account count supplied by founder.</a:t>
            </a:r>
            <a:endParaRPr lang="en-US" sz="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3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payer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already paying for AI who are getting burned by reset.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6868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paying slice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1883664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AI users already paying for ChatGPT, Claude, Gemini, Character.ai, Replika, local models, or multiple AI tools — and using them for work, writing, coding, research, planning, creative output, or emotional processing.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640080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they replace first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28232" y="1883664"/>
            <a:ext cx="4526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workaround layer: pinned chats, saved prompts, custom instructions, memory hacks, context dumps, personal notes, and repeated setup across tools.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5897880" y="1508760"/>
            <a:ext cx="0" cy="2697480"/>
          </a:xfrm>
          <a:prstGeom prst="line">
            <a:avLst/>
          </a:prstGeom>
          <a:noFill/>
          <a:ln w="12700">
            <a:solidFill>
              <a:srgbClr val="D7BC86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4974336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7B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They do not need to be convinced that AI matters. They need one AI presence that carries forward.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5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next paid testers show up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distribution before broad marketing.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68680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Owned proof loop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29000" y="149961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→ Brunel demo → account → onboarding → retention tracking → paid test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2048256"/>
            <a:ext cx="982980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323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power-user channels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29000" y="241401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Reddit, X, LinkedIn, Discords, maker communities, local AI/build circles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2962656"/>
            <a:ext cx="982980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3467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that converts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429000" y="332841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side-by-side demos, “reset problem” clips, adversarial tests, founder story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3877056"/>
            <a:ext cx="982980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2611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outreach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429000" y="424281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reviewers, AI creators, indie builders, companion-AI users, early angels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8680" y="4791456"/>
            <a:ext cx="982980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550468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D7B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GTM is not mass-market ads. It is proof-driven acquisition inside communities that already understand AI pain.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1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wedge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AI subscriptions are early, growing, and still underserved.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2%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68680" y="19476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households paid for GenAI subscriptions in PNC data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41605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155%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4160520" y="19476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YoY increase in share paying for GenAI in PNC data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868680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3%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868680" y="3017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BofA households paid for AI services in 2026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4160520" y="24871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$20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4160520" y="30175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monthly AI spend among paying BofA households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86868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Bottom-up wedge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96112" y="405993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paying minority, not the entire AI market: daily AI users who already spend and already feel the reset problem.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is investable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73952" y="40599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category is small enough to target, growing fast enough to matter, and painful enough for a specialized continuity product to test paid conversion.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53583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B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trillion-dollar hand waving. The first market is paid daily AI users with reset pain.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94360" y="61264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PNC Consumer Health Check Apr. 2026; Bank of America Institute “Not quite mAInstream,” Mar. 2026.</a:t>
            </a:r>
            <a:endParaRPr lang="en-US" sz="6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3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OpenAI / Anthropic memory?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will become table stakes. Behavioral control is the layer.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35331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ARCHE is not memory. It is behavioral control around memory, state, routing, boundaries, and recovery.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Native memory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154680" y="2313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facts inside one provider experience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914400" y="2734056"/>
            <a:ext cx="978408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044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154680" y="3026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governs how memory changes behavior across time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914400" y="3447288"/>
            <a:ext cx="9784080" cy="0"/>
          </a:xfrm>
          <a:prstGeom prst="line">
            <a:avLst/>
          </a:prstGeom>
          <a:noFill/>
          <a:ln w="12700">
            <a:solidFill>
              <a:srgbClr val="D7BC86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7581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Moat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154680" y="3739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regulation, expression control, boundaries, recovery, and model-agnostic runtime design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914400" y="4160520"/>
            <a:ext cx="978408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471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154680" y="44531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AI behavior that can survive model/provider swaps and product surfaces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914400" y="4873752"/>
            <a:ext cx="978408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5522976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7B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belief: models will remember more. The winners will govern behavior better.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1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charge the first users today?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bad timing creates bad data.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68680" y="1444752"/>
            <a:ext cx="9509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Brunel is still a demo/prototype, so charging before stabilization, onboarding cleanup, and retention tracking would distort the data.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6112" y="2578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round funds a controlled paid test designed to measure conversion honestly.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68680" y="3730752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D7BC86">
                <a:alpha val="9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886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Stabilize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05840" y="41330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reliability, latency, basic product polish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657600" y="3730752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8FBDB7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3886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Instrument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794760" y="41330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activation, return use, conversation depth, drop-off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446520" y="3730752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D7BC86">
                <a:alpha val="9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3886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Convert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83680" y="41330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plan test with AI power users who already feel reset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9235440" y="3730752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081B17">
              <a:alpha val="97000"/>
            </a:srgbClr>
          </a:solidFill>
          <a:ln w="12700">
            <a:solidFill>
              <a:srgbClr val="8FBDB7">
                <a:alpha val="9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72600" y="3886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Learn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372600" y="41330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retention, pricing, paid conversion, pilot readiness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1325880" y="5413248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B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 is not “trust us at scale.” It is “fund the clean conversion test.”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3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of funds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$500K round buys one proof sequence.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Target: about 12 months of runway to stabilize → measure → paid test → pilot-ready package.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20848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27632" y="21122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$150K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514600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&amp; UX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5193792" y="206654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onboarding, activation, paid-plan testing, retention loops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868680" y="2523744"/>
            <a:ext cx="978408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7249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27632" y="27523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$150K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51460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&amp; infrastructure</a:t>
            </a:r>
            <a:endParaRPr lang="en-US" sz="1330" dirty="0"/>
          </a:p>
        </p:txBody>
      </p:sp>
      <p:sp>
        <p:nvSpPr>
          <p:cNvPr id="16" name="Text 13"/>
          <p:cNvSpPr/>
          <p:nvPr/>
        </p:nvSpPr>
        <p:spPr>
          <a:xfrm>
            <a:off x="5193792" y="270662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hardening, analytics, cost control, reliability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868680" y="3163824"/>
            <a:ext cx="978408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364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27632" y="33924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$100K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14600" y="33649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Traction &amp; GTM</a:t>
            </a:r>
            <a:endParaRPr lang="en-US" sz="1330" dirty="0"/>
          </a:p>
        </p:txBody>
      </p:sp>
      <p:sp>
        <p:nvSpPr>
          <p:cNvPr id="21" name="Text 18"/>
          <p:cNvSpPr/>
          <p:nvPr/>
        </p:nvSpPr>
        <p:spPr>
          <a:xfrm>
            <a:off x="5193792" y="334670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paid-tester acquisition, demos, content, pilots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868680" y="3803904"/>
            <a:ext cx="978408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0050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627632" y="40325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$50K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514600" y="4005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adversarial testing</a:t>
            </a:r>
            <a:endParaRPr lang="en-US" sz="1330" dirty="0"/>
          </a:p>
        </p:txBody>
      </p:sp>
      <p:sp>
        <p:nvSpPr>
          <p:cNvPr id="26" name="Text 23"/>
          <p:cNvSpPr/>
          <p:nvPr/>
        </p:nvSpPr>
        <p:spPr>
          <a:xfrm>
            <a:off x="5193792" y="398678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red-team logs, safety hardening, IP-safe review</a:t>
            </a:r>
            <a:endParaRPr lang="en-US" sz="1090" dirty="0"/>
          </a:p>
        </p:txBody>
      </p:sp>
      <p:sp>
        <p:nvSpPr>
          <p:cNvPr id="27" name="Shape 24"/>
          <p:cNvSpPr/>
          <p:nvPr/>
        </p:nvSpPr>
        <p:spPr>
          <a:xfrm>
            <a:off x="868680" y="4443984"/>
            <a:ext cx="978408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46451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DB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627632" y="46725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$50K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514600" y="4645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1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Runway &amp; operations</a:t>
            </a:r>
            <a:endParaRPr lang="en-US" sz="1330" dirty="0"/>
          </a:p>
        </p:txBody>
      </p:sp>
      <p:sp>
        <p:nvSpPr>
          <p:cNvPr id="31" name="Text 28"/>
          <p:cNvSpPr/>
          <p:nvPr/>
        </p:nvSpPr>
        <p:spPr>
          <a:xfrm>
            <a:off x="5193792" y="462686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runway, tools, legal/accounting basics</a:t>
            </a:r>
            <a:endParaRPr lang="en-US" sz="1090" dirty="0"/>
          </a:p>
        </p:txBody>
      </p:sp>
      <p:sp>
        <p:nvSpPr>
          <p:cNvPr id="32" name="Shape 29"/>
          <p:cNvSpPr/>
          <p:nvPr/>
        </p:nvSpPr>
        <p:spPr>
          <a:xfrm>
            <a:off x="868680" y="5084064"/>
            <a:ext cx="9784080" cy="0"/>
          </a:xfrm>
          <a:prstGeom prst="line">
            <a:avLst/>
          </a:prstGeom>
          <a:noFill/>
          <a:ln w="12700">
            <a:solidFill>
              <a:srgbClr val="2C4A43">
                <a:alpha val="7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43000" y="55595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Burn logic: roughly $42K/month. The round is sized for proof, not premature scale.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image-5-1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45566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 | Boardy Investor Deck v7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11201400" y="6336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66928" y="4937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Investor fit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50976"/>
            <a:ext cx="9326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investor understands the layer before the market names it.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fit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1965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Prototype-stage AI infrastructure angels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Backers comfortable before mature SaaS metrics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960120" y="27523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Investors who understand category creation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960120" y="31455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who fund proof before consensus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640080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8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Bad fit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46520" y="1965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finished SaaS metrics today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6446520" y="23591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enterprise contracts at demo stage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6446520" y="27523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Wants a generic chatbot app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6446520" y="31455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early stage to squeeze terms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5925312" y="1572768"/>
            <a:ext cx="0" cy="2496312"/>
          </a:xfrm>
          <a:prstGeom prst="line">
            <a:avLst/>
          </a:prstGeom>
          <a:noFill/>
          <a:ln w="12700">
            <a:solidFill>
              <a:srgbClr val="D7BC86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6817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DB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$500K pre-seed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960120" y="51389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7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turn Brunel from live behavioral proof into measured paid-product traction.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960120" y="5650992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8FBDB7">
                <a:alpha val="8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" y="573328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BRUNEL LIVE DEMO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852928" y="56509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0B201C">
              <a:alpha val="95000"/>
            </a:srgbClr>
          </a:solidFill>
          <a:ln w="12700">
            <a:solidFill>
              <a:srgbClr val="D7BC86">
                <a:alpha val="8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26080" y="573328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B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 RUNTIME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178040" y="5650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D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archepersona.online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ArchePersona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ArchePersona Boardy Investor Pitch Deck v7</dc:title>
  <dc:subject>Pre-seed investor pitch deck</dc:subject>
  <dc:creator>ArchePersona</dc:creator>
  <cp:lastModifiedBy>ArchePersona</cp:lastModifiedBy>
  <cp:revision>1</cp:revision>
  <dcterms:created xsi:type="dcterms:W3CDTF">2026-05-31T18:33:23Z</dcterms:created>
  <dcterms:modified xsi:type="dcterms:W3CDTF">2026-05-31T18:33:23Z</dcterms:modified>
</cp:coreProperties>
</file>